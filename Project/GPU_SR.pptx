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870448" y="0"/>
            <a:ext cx="10058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0" y="2103120"/>
            <a:ext cx="2560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946404"/>
            <a:ext cx="2606040" cy="19248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THAPAR INSTITUTE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&amp; TECHNOLOGY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2907792"/>
            <a:ext cx="2606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548640"/>
            <a:ext cx="53035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Accelerated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457200" y="1133856"/>
            <a:ext cx="53035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Super-Resolution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457200" y="1682496"/>
            <a:ext cx="5303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Deep Learning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5120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350008"/>
            <a:ext cx="5303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&amp; Distributed Computing  |  UCS645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2788920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 1: 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102303349 | Gagandeep</a:t>
            </a:r>
            <a:endParaRPr lang="en-US" sz="1200" dirty="0">
              <a:solidFill>
                <a:srgbClr val="A8C4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 2: 102313067 | Anmolpreet Kaur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3172968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</a:t>
            </a:r>
            <a:r>
              <a:rPr lang="en-US" sz="1400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Saif Nalband, Asst. Prof. DCSE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3557016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Date: </a:t>
            </a:r>
            <a:r>
              <a:rPr lang="en-US" sz="1200" b="1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 APRIL</a:t>
            </a:r>
            <a:r>
              <a:rPr lang="en-US" sz="1200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2026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736592"/>
            <a:ext cx="585216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736592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4139418" y="19448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6766560" y="2505456"/>
            <a:ext cx="178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  CUDA VISION</a:t>
            </a:r>
            <a:endParaRPr lang="en-IN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story — from problem to GPU-powered solution to results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207008"/>
            <a:ext cx="4160520" cy="107899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548640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54864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33832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Super-Resolution?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problem, theory, and why classical methods fail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450592"/>
            <a:ext cx="4160520" cy="107899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450592"/>
            <a:ext cx="548640" cy="1078992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50592"/>
            <a:ext cx="54864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542032"/>
            <a:ext cx="33832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Use Cases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2980944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Movies, satellites, storage, surveillance, gaming &amp; medicine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694176"/>
            <a:ext cx="4160520" cy="107899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694176"/>
            <a:ext cx="548640" cy="1078992"/>
          </a:xfrm>
          <a:prstGeom prst="rect">
            <a:avLst/>
          </a:prstGeom>
          <a:solidFill>
            <a:srgbClr val="1B8B5A"/>
          </a:solidFill>
          <a:ln w="12700">
            <a:solidFill>
              <a:srgbClr val="1B8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694176"/>
            <a:ext cx="54864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785616"/>
            <a:ext cx="33832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GPU for Deep Learning?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4224528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architecture &amp; why it's the hero of our project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207008"/>
            <a:ext cx="4160520" cy="107899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207008"/>
            <a:ext cx="548640" cy="10789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07008"/>
            <a:ext cx="54864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13248" y="1298448"/>
            <a:ext cx="33832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Model — FinalSRCNN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13248" y="173736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Architecture, residual connections &amp; perceptual loss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4160520" cy="107899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450592"/>
            <a:ext cx="548640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450592"/>
            <a:ext cx="54864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13248" y="2542032"/>
            <a:ext cx="33832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Training Setup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13248" y="2980944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Dataset, CUDA C++, hyperparameters — GPU-first approach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94176"/>
            <a:ext cx="4160520" cy="107899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94176"/>
            <a:ext cx="548640" cy="1078992"/>
          </a:xfrm>
          <a:prstGeom prst="rect">
            <a:avLst/>
          </a:prstGeom>
          <a:solidFill>
            <a:srgbClr val="1B8B5A"/>
          </a:solidFill>
          <a:ln w="12700">
            <a:solidFill>
              <a:srgbClr val="1B8B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94176"/>
            <a:ext cx="54864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13248" y="3785616"/>
            <a:ext cx="33832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Conclusion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13248" y="4224528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2.31× speedup, loss curve, visual quality &amp; key takeaways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SUPER-RESOLUTION?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Recovering high-frequency detail that classical methods cannot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8458200" cy="74980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70432"/>
            <a:ext cx="6400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Super-Resolution (SR)  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reconstructing a </a:t>
            </a:r>
            <a:r>
              <a:rPr lang="en-US" sz="11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High-Resolution image from a Low-Resolution input. 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enlarge an image with classical methods like bicubic interpolation, you get a </a:t>
            </a: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blurry result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because lost pixel detail </a:t>
            </a: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be mathematically recovered.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Deep Learning solves this by learning the mapping from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2816352" cy="2834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029968"/>
            <a:ext cx="2816352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2996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Classical Methods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2596896" cy="2331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Bicubic / Bilinear Interpolation
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missing pixels using nearby values mathematically. </a:t>
            </a: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but produce blurry results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they have no knowledge of edges, textures, or real-world content.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029968"/>
            <a:ext cx="2816352" cy="2834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029968"/>
            <a:ext cx="2816352" cy="3657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2996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CNN-Based SR  (Our Approach)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450592"/>
            <a:ext cx="2596896" cy="2331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FinalSRCNN — Learned Mapping
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thousands of LR↔HR pairs, the CNN learns to </a:t>
            </a:r>
            <a:r>
              <a:rPr lang="en-US" sz="105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hallucinate sharp edges and textures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interpolation cannot. Maps LR → HR end-to-end.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2029968"/>
            <a:ext cx="2816352" cy="2834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2029968"/>
            <a:ext cx="2816352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02996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Math — What We Optimise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45936" y="2450592"/>
            <a:ext cx="2596896" cy="2331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 X̂ = F(Y ; Θ) ≈ X
</a:t>
            </a: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LR input   </a:t>
            </a: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True HR   </a:t>
            </a: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Θ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CNN weights
</a:t>
            </a:r>
            <a:r>
              <a:rPr lang="en-US" sz="10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 = MSE(X̂,X) + 0.05×MSE(φ(X̂),φ(X))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USE CASES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Super-Resolution is already used everywhere — from Netflix to NASA to your phone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" y="1207008"/>
            <a:ext cx="2816352" cy="1737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207008"/>
            <a:ext cx="2816352" cy="365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20700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🎬  Movies &amp; OTT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1627632"/>
            <a:ext cx="2633472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Netflix, Disney+, Amazon use SR to upscale old 480p/720p content to 4K. Old Bollywood &amp; Hollywood films are being AI-restored — saving crores in re-production.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82696" y="1207008"/>
            <a:ext cx="2816352" cy="1737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1207008"/>
            <a:ext cx="2816352" cy="3657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20700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🛰️  Satellite &amp; Aerial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74136" y="1627632"/>
            <a:ext cx="2633472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NASA, ISRO &amp; Google Maps enhance raw satellite captures for terrain mapping, disaster response, border surveillance &amp; crop monitoring before analysis.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207008"/>
            <a:ext cx="2816352" cy="1737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07008"/>
            <a:ext cx="2816352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20700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 Storage &amp; Streaming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1627632"/>
            <a:ext cx="2633472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Store/stream at LOW resolution → reconstruct HIGH quality on-device. Used by YouTube, Zoom (low-bandwidth calls) and NVIDIA DLSS (gaming) to save bandwidth.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" y="3127248"/>
            <a:ext cx="2816352" cy="1737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1752" y="3127248"/>
            <a:ext cx="2816352" cy="3657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12724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🏥  Medical Imaging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3192" y="3547872"/>
            <a:ext cx="2633472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MRI &amp; CT scans are limited in resolution due to hardware/time. SR enhances these scans so doctors can detect tumors, fractures &amp; tissue damage more accurately.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82696" y="3127248"/>
            <a:ext cx="2816352" cy="1737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82696" y="3127248"/>
            <a:ext cx="2816352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312724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 Surveillance &amp; CCTV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74136" y="3547872"/>
            <a:ext cx="2633472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Police &amp; forensics use SR to sharpen CCTV footage — making faces, number plates, and objects readable from blurry low-res recordings used in crime investigation.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3127248"/>
            <a:ext cx="2816352" cy="17373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3127248"/>
            <a:ext cx="2816352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127248"/>
            <a:ext cx="263347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🎮  Gaming — DLSS / FSR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5080" y="3547872"/>
            <a:ext cx="2633472" cy="12435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DLSS &amp; AMD FSR render at 1080p, SR upscales to 4K in real time — giving 2–4× FPS boost. Used in every major AAA game title today.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GPU IS THE HERO OF THIS PROJECT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is not just faster — it fundamentally enables deep learning at scale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84582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modern GPU has 3,000 – 10,000+ CUDA cores running in parallel. </a:t>
            </a:r>
            <a:r>
              <a:rPr lang="en-US" sz="1200" dirty="0">
                <a:solidFill>
                  <a:srgbClr val="A8C4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CPU has 4–32 cores running sequentially.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938528"/>
            <a:ext cx="4160520" cy="294436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938528"/>
            <a:ext cx="4160520" cy="384048"/>
          </a:xfrm>
          <a:prstGeom prst="rect">
            <a:avLst/>
          </a:prstGeom>
          <a:solidFill>
            <a:srgbClr val="1B8B5A"/>
          </a:solidFill>
          <a:ln w="12700">
            <a:solidFill>
              <a:srgbClr val="1B8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3977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Why Convolution = Made for GPU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395728"/>
            <a:ext cx="3886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Each output pixel is independent
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 conv layer, pixel (i,j) does NOT depend on pixel (i+1,j) → all can be computed simultaneously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008376"/>
            <a:ext cx="3886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Thousands of threads, one task
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launches 1 CUDA thread per output pixel → thousands run at once, not one after another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621024"/>
            <a:ext cx="3886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Our model: 128×128 feature maps
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16,384 pixels  → GPU computes all in parallel, CPU does them serially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4233672"/>
            <a:ext cx="38862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VGG16 perceptual loss adds load
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 VGG16 forward pass per step → CPU gets crushed, GPU handles it with spare capacity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81728" y="1938528"/>
            <a:ext cx="4114800" cy="294436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938528"/>
            <a:ext cx="41148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38528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vs GPU — Design Philosophy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2377440"/>
            <a:ext cx="1188720" cy="402336"/>
          </a:xfrm>
          <a:prstGeom prst="rect">
            <a:avLst/>
          </a:prstGeom>
          <a:solidFill>
            <a:srgbClr val="1A3A5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377440"/>
            <a:ext cx="1115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61888" y="2377440"/>
            <a:ext cx="1371600" cy="402336"/>
          </a:xfrm>
          <a:prstGeom prst="rect">
            <a:avLst/>
          </a:prstGeom>
          <a:solidFill>
            <a:srgbClr val="1A3A5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2377440"/>
            <a:ext cx="1298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70064" y="2377440"/>
            <a:ext cx="1417320" cy="402336"/>
          </a:xfrm>
          <a:prstGeom prst="rect">
            <a:avLst/>
          </a:prstGeom>
          <a:solidFill>
            <a:srgbClr val="1A3A5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15784" y="2377440"/>
            <a:ext cx="13441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36592" y="2779776"/>
            <a:ext cx="11887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779776"/>
            <a:ext cx="1115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61888" y="2779776"/>
            <a:ext cx="13716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2779776"/>
            <a:ext cx="1298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4–32 powerful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70064" y="2779776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15784" y="2779776"/>
            <a:ext cx="13441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2-3K cores small CUDA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3182112"/>
            <a:ext cx="1188720" cy="40233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182112"/>
            <a:ext cx="1115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Optimised for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61888" y="3182112"/>
            <a:ext cx="1371600" cy="40233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3182112"/>
            <a:ext cx="1298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Latency (sequential)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70064" y="3182112"/>
            <a:ext cx="1417320" cy="40233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15784" y="3182112"/>
            <a:ext cx="13441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Throughput (parallel)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3584448"/>
            <a:ext cx="11887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584448"/>
            <a:ext cx="1115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61888" y="3584448"/>
            <a:ext cx="13716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3584448"/>
            <a:ext cx="1298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L1/L2 cache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70064" y="3584448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15784" y="3584448"/>
            <a:ext cx="13441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bandwidth GDDR6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36592" y="3986784"/>
            <a:ext cx="1188720" cy="40233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3986784"/>
            <a:ext cx="1115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 Training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61888" y="3986784"/>
            <a:ext cx="1371600" cy="40233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07608" y="3986784"/>
            <a:ext cx="1298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— sequential ops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70064" y="3986784"/>
            <a:ext cx="1417320" cy="40233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15784" y="3986784"/>
            <a:ext cx="13441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— all ops parallel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36592" y="4389120"/>
            <a:ext cx="11887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389120"/>
            <a:ext cx="1115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61888" y="4389120"/>
            <a:ext cx="13716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07608" y="4389120"/>
            <a:ext cx="1298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1447.9 seconds ❌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70064" y="4389120"/>
            <a:ext cx="1417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15784" y="4389120"/>
            <a:ext cx="13441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626.3 seconds  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MODEL — FINALSRCNN ARCHITECTURE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4-layer CNN with residual connection + combined perceptual loss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1097280" cy="822960"/>
          </a:xfrm>
          <a:prstGeom prst="rect">
            <a:avLst/>
          </a:prstGeom>
          <a:solidFill>
            <a:srgbClr val="64748B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298448"/>
            <a:ext cx="1097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32×32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53312" y="1709928"/>
            <a:ext cx="54864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8176" y="1298448"/>
            <a:ext cx="1097280" cy="822960"/>
          </a:xfrm>
          <a:prstGeom prst="rect">
            <a:avLst/>
          </a:prstGeom>
          <a:solidFill>
            <a:srgbClr val="1A3A5C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08176" y="1298448"/>
            <a:ext cx="1097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Bicubic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Upsample ×4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05456" y="1709928"/>
            <a:ext cx="54864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298448"/>
            <a:ext cx="1097280" cy="822960"/>
          </a:xfrm>
          <a:prstGeom prst="rect">
            <a:avLst/>
          </a:prstGeom>
          <a:solidFill>
            <a:srgbClr val="1E88E5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298448"/>
            <a:ext cx="1097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9×9, 64ch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1709928"/>
            <a:ext cx="54864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2464" y="1298448"/>
            <a:ext cx="1097280" cy="822960"/>
          </a:xfrm>
          <a:prstGeom prst="rect">
            <a:avLst/>
          </a:prstGeom>
          <a:solidFill>
            <a:srgbClr val="1E88E5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2464" y="1298448"/>
            <a:ext cx="1097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3×3, 64ch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9744" y="1709928"/>
            <a:ext cx="54864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64608" y="1298448"/>
            <a:ext cx="1097280" cy="822960"/>
          </a:xfrm>
          <a:prstGeom prst="rect">
            <a:avLst/>
          </a:prstGeom>
          <a:solidFill>
            <a:srgbClr val="1E88E5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1298448"/>
            <a:ext cx="1097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3×3, 32ch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61888" y="1709928"/>
            <a:ext cx="54864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16752" y="1298448"/>
            <a:ext cx="1097280" cy="822960"/>
          </a:xfrm>
          <a:prstGeom prst="rect">
            <a:avLst/>
          </a:prstGeom>
          <a:solidFill>
            <a:srgbClr val="1A3A5C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16752" y="1298448"/>
            <a:ext cx="1097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Conv4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5×5, 1ch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14032" y="1709928"/>
            <a:ext cx="54864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1298448"/>
            <a:ext cx="1097280" cy="822960"/>
          </a:xfrm>
          <a:prstGeom prst="rect">
            <a:avLst/>
          </a:prstGeom>
          <a:solidFill>
            <a:srgbClr val="1B6B3A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68896" y="1298448"/>
            <a:ext cx="1097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 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128×128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08176" y="1024128"/>
            <a:ext cx="6858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 Skip Connection — output = Conv4(x) + bicubic_upsampled  (prevents vanishing gradients, improves convergence)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2286000"/>
            <a:ext cx="4160520" cy="257860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286000"/>
            <a:ext cx="416052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86000"/>
            <a:ext cx="3977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Residual Connection?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724912"/>
            <a:ext cx="3931920" cy="2057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residual: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must learn the full HR image from scratch , hard and slow.
</a:t>
            </a:r>
            <a:r>
              <a:rPr lang="en-US" sz="1050" b="1" dirty="0">
                <a:solidFill>
                  <a:srgbClr val="1B8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residual: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only learns the </a:t>
            </a:r>
            <a:r>
              <a:rPr lang="en-US" sz="1050" b="1" dirty="0">
                <a:solidFill>
                  <a:srgbClr val="1B8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high-frequency detail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 ADD on top of the bicubic baseline. Much easier task → faster convergence &amp; better results.
</a:t>
            </a: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 connections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also prevent vanishing gradients in deeper layers.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1728" y="2286000"/>
            <a:ext cx="4114800" cy="257860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2286000"/>
            <a:ext cx="4114800" cy="3657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228600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 Function — Why Combined?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73168" y="2706624"/>
            <a:ext cx="3931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L(Θ) = MSE(X̂, X) + 0.05 × MSE(φ(X̂), φ(X))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773168" y="3145536"/>
            <a:ext cx="3931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 Loss (MSE):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Penalises exact pixel errors → ensures numbers are correct.
</a:t>
            </a: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Perceptual Loss (VGG16 features):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 deep feature maps from a pre-trained VGG16 → output </a:t>
            </a:r>
            <a:r>
              <a:rPr lang="en-US" sz="1050" b="1" dirty="0">
                <a:solidFill>
                  <a:srgbClr val="1B8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sharp and realistic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not just numerically accurate.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TRAINING SETUP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implementations — PyTorch (CPU baseline) vs hand-coded CUDA C++ (GPU)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041648" cy="1481328"/>
          </a:xfrm>
          <a:prstGeom prst="rect">
            <a:avLst/>
          </a:prstGeom>
          <a:solidFill>
            <a:srgbClr val="FFF8F0"/>
          </a:solidFill>
          <a:ln w="12700">
            <a:solidFill>
              <a:srgbClr val="E0A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4041648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Baseline — PyTorch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3749040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(high-level, auto-grad)
</a:t>
            </a: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Perceptual + MSE
</a:t>
            </a: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</a:t>
            </a: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to measure speedup against GPU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1170432"/>
            <a:ext cx="4251960" cy="1481328"/>
          </a:xfrm>
          <a:prstGeom prst="rect">
            <a:avLst/>
          </a:prstGeom>
          <a:solidFill>
            <a:srgbClr val="F0F8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170432"/>
            <a:ext cx="42519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70432"/>
            <a:ext cx="4069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GPU Implementation — CUDA C++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1728" y="1554480"/>
            <a:ext cx="4041648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Kernels written: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conv, backward pass (dW/db/dX), ReLU bwd, Adam update — all in CUDA
</a:t>
            </a: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Compiler: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nvcc -O2 -arch=sm_75   |   </a:t>
            </a: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Parallelism: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CUDA thread per output pixel
</a:t>
            </a: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loading: </a:t>
            </a: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libcurl + stb_image — dataset fetched directly inside CUDA program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779776"/>
            <a:ext cx="84582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79776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Hyperparameters — Identical for both CPU and GPU (for fair comparison)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163824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163824"/>
            <a:ext cx="59436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200400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 images — Picsum Photos API (deterministic seeds)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538728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538728"/>
            <a:ext cx="59436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75304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Input: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3575304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32×32 px — bicubic downscale from 256×256 source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913632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913632"/>
            <a:ext cx="59436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5020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 Target: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950208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128×128 px — bicubic resize (4× upscale factor)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4288536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288536"/>
            <a:ext cx="59436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25112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Normalisation: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4325112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 values ÷ 255 → range [0.0, 1.0]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4663440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4663440"/>
            <a:ext cx="59436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00016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Diversity: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20240" y="4700016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Landscapes, portraits, urban, textures — diverse scenes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45152" y="3163824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5152" y="3163824"/>
            <a:ext cx="59436" cy="347472"/>
          </a:xfrm>
          <a:prstGeom prst="rect">
            <a:avLst/>
          </a:prstGeom>
          <a:solidFill>
            <a:srgbClr val="1B8B5A"/>
          </a:solidFill>
          <a:ln w="12700">
            <a:solidFill>
              <a:srgbClr val="1B8B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0040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200400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 epochs — same for both CPU &amp; GPU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45152" y="3538728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45152" y="3538728"/>
            <a:ext cx="59436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575304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575304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images per mini-batch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45152" y="3913632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45152" y="3913632"/>
            <a:ext cx="59436" cy="347472"/>
          </a:xfrm>
          <a:prstGeom prst="rect">
            <a:avLst/>
          </a:prstGeom>
          <a:solidFill>
            <a:srgbClr val="1B8B5A"/>
          </a:solidFill>
          <a:ln w="12700">
            <a:solidFill>
              <a:srgbClr val="1B8B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950208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Optimiser: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17920" y="3950208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— lr=0.001, β₁=0.9, β₂=0.999, ε=1e-8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45152" y="4288536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45152" y="4288536"/>
            <a:ext cx="59436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325112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Result: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4325112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626.3 s (vs CPU: 1447.9 s)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45152" y="4663440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45152" y="4663440"/>
            <a:ext cx="59436" cy="347472"/>
          </a:xfrm>
          <a:prstGeom prst="rect">
            <a:avLst/>
          </a:prstGeom>
          <a:solidFill>
            <a:srgbClr val="1B8B5A"/>
          </a:solidFill>
          <a:ln w="12700">
            <a:solidFill>
              <a:srgbClr val="1B8B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4700016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Speedup: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4700016"/>
            <a:ext cx="24963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2.31× faster — 56.7% reduction in training time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GPU SPEEDUP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cut training time by 56.7% — empirical proof that parallelism works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2633472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70432"/>
            <a:ext cx="64008" cy="15727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2468880" cy="81783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1447.9s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988271"/>
            <a:ext cx="2468880" cy="34600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CPU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02825"/>
            <a:ext cx="2468880" cy="40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— CPU Training Time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170432"/>
            <a:ext cx="2633472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170432"/>
            <a:ext cx="64008" cy="15727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225296"/>
            <a:ext cx="2468880" cy="81783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8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626.3s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28416" y="1988271"/>
            <a:ext cx="2468880" cy="34600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CUDA Parallel GPU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2302825"/>
            <a:ext cx="2468880" cy="40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CUDA C++ — GPU Training 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1170432"/>
            <a:ext cx="2706624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170432"/>
            <a:ext cx="64008" cy="15727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225296"/>
            <a:ext cx="2542032" cy="81783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2.31×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99632" y="1988271"/>
            <a:ext cx="2542032" cy="34600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56.7% Faster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2302825"/>
            <a:ext cx="2542032" cy="40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Speedup Factor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63140" y="2833233"/>
            <a:ext cx="4462272" cy="21031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3140" y="2907792"/>
            <a:ext cx="4389120" cy="20299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120640" y="2907792"/>
            <a:ext cx="35204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120640" y="3310128"/>
            <a:ext cx="354787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120640" y="3840480"/>
            <a:ext cx="354787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120640" y="4370832"/>
            <a:ext cx="3547872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CONVERGENCE &amp; VISUAL QUALITY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813816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 dropped from 0.137 → 0.104 | SR outputs show clear visual improvement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25196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69848"/>
            <a:ext cx="4251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4069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Loss Curve — 60 Epochs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554480"/>
            <a:ext cx="4160520" cy="27249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73168" y="1170432"/>
            <a:ext cx="4023360" cy="37490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1170432"/>
            <a:ext cx="402336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82896" y="11704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Super-Resolution Output — LR vs SR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554480"/>
            <a:ext cx="3931920" cy="2560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9744" y="4151376"/>
            <a:ext cx="3931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Left: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 input 32×32 — pixelated, blurry edges
</a:t>
            </a:r>
            <a:r>
              <a:rPr lang="en-US" sz="950" b="1" dirty="0">
                <a:solidFill>
                  <a:srgbClr val="1B8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Right: </a:t>
            </a: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FinalSRCNN 128×128 — sharper edges, reduced blocking, natural textures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47472" y="4590288"/>
            <a:ext cx="0" cy="0"/>
          </a:xfrm>
          <a:prstGeom prst="rect">
            <a:avLst/>
          </a:prstGeom>
          <a:noFill/>
        </p:spPr>
      </p:sp>
      <p:sp>
        <p:nvSpPr>
          <p:cNvPr id="16" name="Text 12"/>
          <p:cNvSpPr/>
          <p:nvPr/>
        </p:nvSpPr>
        <p:spPr>
          <a:xfrm>
            <a:off x="411480" y="4343400"/>
            <a:ext cx="413308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 1–5: 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drop: 0.137→0.122. Network quickly learns dominant low-freq mapping.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7472" y="4590288"/>
            <a:ext cx="0" cy="0"/>
          </a:xfrm>
          <a:prstGeom prst="rect">
            <a:avLst/>
          </a:prstGeom>
          <a:noFill/>
        </p:spPr>
      </p:sp>
      <p:sp>
        <p:nvSpPr>
          <p:cNvPr id="18" name="Text 14"/>
          <p:cNvSpPr/>
          <p:nvPr/>
        </p:nvSpPr>
        <p:spPr>
          <a:xfrm>
            <a:off x="402336" y="4590288"/>
            <a:ext cx="41148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Epochs 5–40: 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with oscillations from stochastic mini-batch noise.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47472" y="4590288"/>
            <a:ext cx="0" cy="0"/>
          </a:xfrm>
          <a:prstGeom prst="rect">
            <a:avLst/>
          </a:prstGeom>
          <a:noFill/>
        </p:spPr>
      </p:sp>
      <p:sp>
        <p:nvSpPr>
          <p:cNvPr id="20" name="Text 16"/>
          <p:cNvSpPr/>
          <p:nvPr/>
        </p:nvSpPr>
        <p:spPr>
          <a:xfrm>
            <a:off x="402336" y="4501662"/>
            <a:ext cx="4114800" cy="56411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8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 40–60: </a:t>
            </a: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Stabilises at 0.104–0.106. Convergence confirmed — no divergence.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731520"/>
          </a:xfrm>
          <a:prstGeom prst="rect">
            <a:avLst/>
          </a:prstGeom>
          <a:solidFill>
            <a:srgbClr val="12233D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04672"/>
            <a:ext cx="2011680" cy="731520"/>
          </a:xfrm>
          <a:prstGeom prst="rect">
            <a:avLst/>
          </a:prstGeom>
          <a:solidFill>
            <a:srgbClr val="1B8B5A"/>
          </a:solidFill>
          <a:ln w="12700">
            <a:solidFill>
              <a:srgbClr val="1B8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is Essential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78608" y="804672"/>
            <a:ext cx="594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is not practically feasible on CPU at scale. GPU is the foundation, not an optimisation.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12233D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45920"/>
            <a:ext cx="2011680" cy="7315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4592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2.31× Speedup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78608" y="1645920"/>
            <a:ext cx="594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time dropped from 1447.9s → 626.3s — a 56.7% wall-clock reduction using CUDA parallelism.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8229600" cy="731520"/>
          </a:xfrm>
          <a:prstGeom prst="rect">
            <a:avLst/>
          </a:prstGeom>
          <a:solidFill>
            <a:srgbClr val="12233D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87168"/>
            <a:ext cx="201168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87168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Smooth Convergence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78608" y="2487168"/>
            <a:ext cx="594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MSE loss 0.137 → 0.104 over 60 epochs. No divergence. Adam optimiser kept training stable throughout.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solidFill>
            <a:srgbClr val="12233D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28416"/>
            <a:ext cx="2011680" cy="73152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28416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 + Perceptual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78608" y="3328416"/>
            <a:ext cx="594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 connection + VGG perceptual loss produced outputs that are both numerically and visually sharp.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8229600" cy="731520"/>
          </a:xfrm>
          <a:prstGeom prst="rect">
            <a:avLst/>
          </a:prstGeom>
          <a:solidFill>
            <a:srgbClr val="12233D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69664"/>
            <a:ext cx="201168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69664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Impact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78608" y="4169664"/>
            <a:ext cx="594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4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SR powers Netflix 4K, ISRO satellite mapping, CCTV forensics, NVIDIA DLSS, and medical MRI enhancement.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72768"/>
            <a:ext cx="9144000" cy="1920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1737360"/>
            <a:ext cx="91440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2798064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0233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7492</Words>
  <Application>WPS Presentation</Application>
  <PresentationFormat>On-screen Show (16:9)</PresentationFormat>
  <Paragraphs>318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Accelerated Image Super-Resolution</dc:title>
  <dc:creator>PptxGenJS</dc:creator>
  <dc:subject>PptxGenJS Presentation</dc:subject>
  <cp:lastModifiedBy>bhath</cp:lastModifiedBy>
  <cp:revision>4</cp:revision>
  <dcterms:created xsi:type="dcterms:W3CDTF">2026-04-27T04:44:00Z</dcterms:created>
  <dcterms:modified xsi:type="dcterms:W3CDTF">2026-04-29T04:13:39Z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6919662103834457A6FEB0735E530EB3_12</vt:lpwstr>
  </property>
  <property fmtid="{D5CDD505-2E9C-101B-9397-08002B2CF9AE}" pid="3" name="KSOProductBuildVer">
    <vt:lpwstr>1033-12.1.0.25242</vt:lpwstr>
  </property>
</Properties>
</file>